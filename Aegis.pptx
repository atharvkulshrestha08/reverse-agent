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5943600" cy="329184"/>
          </a:xfrm>
          <a:prstGeom prst="roundRect">
            <a:avLst/>
          </a:prstGeom>
          <a:solidFill>
            <a:srgbClr val="071C1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REVERSE HACKATHON 2026  •  NORTHWIND CIPHER CooL SDK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7F5F0"/>
                </a:solidFill>
              </a:defRPr>
            </a:pPr>
            <a:r>
              <a:t>AEGIS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4AF37"/>
                </a:solidFill>
              </a:defRPr>
            </a:pPr>
            <a:r>
              <a:t>The Autonomous AI Flight Recorder &amp; Cryptographic Attestation 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7F5F0"/>
                </a:solidFill>
              </a:defRPr>
            </a:pPr>
            <a:r>
              <a:t>Transforming high-stakes autonomous AI decisions into unalterable, post-quantum, court-admissible execution receipts.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29000"/>
            <a:ext cx="10728655" cy="1463040"/>
          </a:xfrm>
          <a:prstGeom prst="roundRect">
            <a:avLst/>
          </a:prstGeom>
          <a:solidFill>
            <a:srgbClr val="071C1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0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PRESENTER &amp; TEAM PROFILE</a:t>
            </a:r>
          </a:p>
          <a:p>
            <a:pPr>
              <a:defRPr sz="1800" b="1">
                <a:solidFill>
                  <a:srgbClr val="F7F5F0"/>
                </a:solidFill>
              </a:defRPr>
            </a:pPr>
            <a:r>
              <a:t>Atharv Kulshrestha   •   Team VLC</a:t>
            </a:r>
          </a:p>
          <a:p>
            <a:pPr>
              <a:defRPr sz="1200">
                <a:solidFill>
                  <a:srgbClr val="D4AF37"/>
                </a:solidFill>
              </a:defRPr>
            </a:pPr>
            <a:r>
              <a:t>Department of Computer Science &amp; Engineering (AI &amp; ML)   |   Roll No: 2400331530037</a:t>
            </a:r>
          </a:p>
          <a:p>
            <a:pPr>
              <a:defRPr sz="1100">
                <a:solidFill>
                  <a:srgbClr val="F7F5F0"/>
                </a:solidFill>
              </a:defRPr>
            </a:pPr>
            <a:r>
              <a:t>Raj Kumar Goel Institute of Technology (RKGIT), Ghaziabad   •   Dr. A.P.J. Abdul Kalam Technical University (AKTU)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37560" cy="1097280"/>
          </a:xfrm>
          <a:prstGeom prst="roundRect">
            <a:avLst/>
          </a:prstGeom>
          <a:solidFill>
            <a:srgbClr val="1F4E43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D4AF37"/>
                </a:solidFill>
              </a:defRPr>
            </a:pPr>
            <a:r>
              <a:t>🛡️ Hardware Enclave Rail</a:t>
            </a:r>
          </a:p>
          <a:p>
            <a:pPr>
              <a:defRPr sz="1000">
                <a:solidFill>
                  <a:srgbClr val="F7F5F0"/>
                </a:solidFill>
              </a:defRPr>
            </a:pPr>
            <a:r>
              <a:t>Intel TDX CVM attestation seals code memory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5120640"/>
            <a:ext cx="3337560" cy="1097280"/>
          </a:xfrm>
          <a:prstGeom prst="roundRect">
            <a:avLst/>
          </a:prstGeom>
          <a:solidFill>
            <a:srgbClr val="1F4E43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D4AF37"/>
                </a:solidFill>
              </a:defRPr>
            </a:pPr>
            <a:r>
              <a:t>🔐 Post-Quantum Keys</a:t>
            </a:r>
          </a:p>
          <a:p>
            <a:pPr>
              <a:defRPr sz="1000">
                <a:solidFill>
                  <a:srgbClr val="F7F5F0"/>
                </a:solidFill>
              </a:defRPr>
            </a:pPr>
            <a:r>
              <a:t>NIST FIPS 204 ML-DSA-65 + Ed25519 dual rail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5120640"/>
            <a:ext cx="3337560" cy="1097280"/>
          </a:xfrm>
          <a:prstGeom prst="roundRect">
            <a:avLst/>
          </a:prstGeom>
          <a:solidFill>
            <a:srgbClr val="1F4E43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D4AF37"/>
                </a:solidFill>
              </a:defRPr>
            </a:pPr>
            <a:r>
              <a:t>⚡ 6ms Offline Verification</a:t>
            </a:r>
          </a:p>
          <a:p>
            <a:pPr>
              <a:defRPr sz="1000">
                <a:solidFill>
                  <a:srgbClr val="F7F5F0"/>
                </a:solidFill>
              </a:defRPr>
            </a:pPr>
            <a:r>
              <a:t>Mathematical trust without server or network calls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292608"/>
          </a:xfrm>
          <a:prstGeom prst="roundRect">
            <a:avLst/>
          </a:prstGeom>
          <a:solidFill>
            <a:srgbClr val="0D2E2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D4AF37"/>
                </a:solidFill>
              </a:defRPr>
            </a:pPr>
            <a:r>
              <a:t>SLIDE 2 OF 5  •  THE URGENT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D2E27"/>
                </a:solidFill>
              </a:defRPr>
            </a:pPr>
            <a:r>
              <a:t>The 'Black Box' Liability Crisis of Autonomous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5568"/>
                </a:solidFill>
              </a:defRPr>
            </a:pPr>
            <a:r>
              <a:t>Why enterprises are legally terrified of deploying autonomous agentic workflows in production.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375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731520"/>
          <a:lstStyle/>
          <a:p>
            <a:pPr algn="ctr">
              <a:defRPr sz="1100" b="1">
                <a:solidFill>
                  <a:srgbClr val="0D2E27"/>
                </a:solidFill>
              </a:defRPr>
            </a:pPr>
            <a:r>
              <a:t>Autonomous agents make critical decisions (loan approvals, medical claims, algorithmic underwriting) without unalterable proof.</a:t>
            </a:r>
          </a:p>
          <a:p/>
          <a:p>
            <a:pPr>
              <a:defRPr sz="1000">
                <a:solidFill>
                  <a:srgbClr val="4A5568"/>
                </a:solidFill>
              </a:defRPr>
            </a:pPr>
            <a:r>
              <a:t>• Logs stored in Datadog/AWS CloudWatch are completely mutable</a:t>
            </a:r>
          </a:p>
          <a:p>
            <a:pPr>
              <a:defRPr sz="1000">
                <a:solidFill>
                  <a:srgbClr val="4A5568"/>
                </a:solidFill>
              </a:defRPr>
            </a:pPr>
            <a:r>
              <a:t>• Rogue admins or prompt-injection attackers can rewrite logs post-hoc</a:t>
            </a:r>
          </a:p>
          <a:p>
            <a:pPr>
              <a:defRPr sz="1000">
                <a:solidFill>
                  <a:srgbClr val="4A5568"/>
                </a:solidFill>
              </a:defRPr>
            </a:pPr>
            <a:r>
              <a:t>• Zero non-repudiation: institutions cannot prove who caused an error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03120"/>
            <a:ext cx="2971800" cy="411480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7F5F0"/>
                </a:solidFill>
              </a:defRPr>
            </a:pPr>
            <a:r>
              <a:t>🚨 The Tamperability Trap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920240"/>
            <a:ext cx="33375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731520"/>
          <a:lstStyle/>
          <a:p>
            <a:pPr algn="ctr">
              <a:defRPr sz="1100" b="1">
                <a:solidFill>
                  <a:srgbClr val="0D2E27"/>
                </a:solidFill>
              </a:defRPr>
            </a:pPr>
            <a:r>
              <a:t>New legal frameworks mandate verifiable continuous execution logging for high-risk autonomous AI.</a:t>
            </a:r>
          </a:p>
          <a:p/>
          <a:p>
            <a:pPr>
              <a:defRPr sz="1000">
                <a:solidFill>
                  <a:srgbClr val="4A5568"/>
                </a:solidFill>
              </a:defRPr>
            </a:pPr>
            <a:r>
              <a:t>• EU AI Act (Art. 12): Strict liability &amp; mandatory machine logging</a:t>
            </a:r>
          </a:p>
          <a:p>
            <a:pPr>
              <a:defRPr sz="1000">
                <a:solidFill>
                  <a:srgbClr val="4A5568"/>
                </a:solidFill>
              </a:defRPr>
            </a:pPr>
            <a:r>
              <a:t>• Fines up to €35,000,000 or 7% of global annual turnover</a:t>
            </a:r>
          </a:p>
          <a:p>
            <a:pPr>
              <a:defRPr sz="1000">
                <a:solidFill>
                  <a:srgbClr val="4A5568"/>
                </a:solidFill>
              </a:defRPr>
            </a:pPr>
            <a:r>
              <a:t>• RBI Digital Lending 2026: Algorithmic bias audits required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08576" y="2103120"/>
            <a:ext cx="2971800" cy="411480"/>
          </a:xfrm>
          <a:prstGeom prst="roundRect">
            <a:avLst/>
          </a:prstGeom>
          <a:solidFill>
            <a:srgbClr val="0D2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7F5F0"/>
                </a:solidFill>
              </a:defRPr>
            </a:pPr>
            <a:r>
              <a:t>⚖️ Catastrophic Regulatory Fines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920240"/>
            <a:ext cx="33375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731520"/>
          <a:lstStyle/>
          <a:p>
            <a:pPr algn="ctr">
              <a:defRPr sz="1100" b="1">
                <a:solidFill>
                  <a:srgbClr val="0D2E27"/>
                </a:solidFill>
              </a:defRPr>
            </a:pPr>
            <a:r>
              <a:t>Proving compliance currently forces institutions to hoard raw customer PII, causing massive data liability.</a:t>
            </a:r>
          </a:p>
          <a:p/>
          <a:p>
            <a:pPr>
              <a:defRPr sz="1000">
                <a:solidFill>
                  <a:srgbClr val="4A5568"/>
                </a:solidFill>
              </a:defRPr>
            </a:pPr>
            <a:r>
              <a:t>• Storing full user prompts violates data minimization rules</a:t>
            </a:r>
          </a:p>
          <a:p>
            <a:pPr>
              <a:defRPr sz="1000">
                <a:solidFill>
                  <a:srgbClr val="4A5568"/>
                </a:solidFill>
              </a:defRPr>
            </a:pPr>
            <a:r>
              <a:t>• Subpoenas and audits expose confidential SSNs, taxes, and finances</a:t>
            </a:r>
          </a:p>
          <a:p>
            <a:pPr>
              <a:defRPr sz="1000">
                <a:solidFill>
                  <a:srgbClr val="4A5568"/>
                </a:solidFill>
              </a:defRPr>
            </a:pPr>
            <a:r>
              <a:t>• Need zero-knowledge selective disclosure without data leakage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02752" y="2103120"/>
            <a:ext cx="2971800" cy="411480"/>
          </a:xfrm>
          <a:prstGeom prst="roundRect">
            <a:avLst/>
          </a:prstGeom>
          <a:solidFill>
            <a:srgbClr val="1F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7F5F0"/>
                </a:solidFill>
              </a:defRPr>
            </a:pPr>
            <a:r>
              <a:t>🔒 The Privacy Paradox (DPDP &amp; HIPAA)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292608"/>
          </a:xfrm>
          <a:prstGeom prst="roundRect">
            <a:avLst/>
          </a:prstGeom>
          <a:solidFill>
            <a:srgbClr val="0D2E2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D4AF37"/>
                </a:solidFill>
              </a:defRPr>
            </a:pPr>
            <a:r>
              <a:t>SLIDE 3 OF 5  •  MARKET NEED &amp; URGENCY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D2E27"/>
                </a:solidFill>
              </a:defRPr>
            </a:pPr>
            <a:r>
              <a:t>Market Demand &amp; The Urgency of Cryptographic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5568"/>
                </a:solidFill>
              </a:defRPr>
            </a:pPr>
            <a:r>
              <a:t>Why autonomous observability is a mandatory enterprise budget item, not a nice-to-have.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4688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7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2800" b="1">
                <a:solidFill>
                  <a:srgbClr val="0D2E27"/>
                </a:solidFill>
              </a:defRPr>
            </a:pPr>
            <a:r>
              <a:t>87%</a:t>
            </a:r>
          </a:p>
          <a:p>
            <a:pPr>
              <a:defRPr sz="1050" b="1">
                <a:solidFill>
                  <a:srgbClr val="D4AF37"/>
                </a:solidFill>
              </a:defRPr>
            </a:pPr>
            <a:r>
              <a:t>Enterprise Deployments Blocked</a:t>
            </a:r>
          </a:p>
          <a:p>
            <a:pPr>
              <a:defRPr sz="900">
                <a:solidFill>
                  <a:srgbClr val="4A5568"/>
                </a:solidFill>
              </a:defRPr>
            </a:pPr>
            <a:r>
              <a:t>Risk committees refuse autonomous agents due to lack of court-admissible auditability.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920240"/>
            <a:ext cx="24688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7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2800" b="1">
                <a:solidFill>
                  <a:srgbClr val="0D2E27"/>
                </a:solidFill>
              </a:defRPr>
            </a:pPr>
            <a:r>
              <a:t>€35M</a:t>
            </a:r>
          </a:p>
          <a:p>
            <a:pPr>
              <a:defRPr sz="1050" b="1">
                <a:solidFill>
                  <a:srgbClr val="D4AF37"/>
                </a:solidFill>
              </a:defRPr>
            </a:pPr>
            <a:r>
              <a:t>Maximum EU AI Act Fine</a:t>
            </a:r>
          </a:p>
          <a:p>
            <a:pPr>
              <a:defRPr sz="900">
                <a:solidFill>
                  <a:srgbClr val="4A5568"/>
                </a:solidFill>
              </a:defRPr>
            </a:pPr>
            <a:r>
              <a:t>Penalty for deploying high-risk autonomous models without continuous tamper-evident logs.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24688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7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2800" b="1">
                <a:solidFill>
                  <a:srgbClr val="0D2E27"/>
                </a:solidFill>
              </a:defRPr>
            </a:pPr>
            <a:r>
              <a:t>$18.4B</a:t>
            </a:r>
          </a:p>
          <a:p>
            <a:pPr>
              <a:defRPr sz="1050" b="1">
                <a:solidFill>
                  <a:srgbClr val="D4AF37"/>
                </a:solidFill>
              </a:defRPr>
            </a:pPr>
            <a:r>
              <a:t>AI Governance Market by 2030</a:t>
            </a:r>
          </a:p>
          <a:p>
            <a:pPr>
              <a:defRPr sz="900">
                <a:solidFill>
                  <a:srgbClr val="4A5568"/>
                </a:solidFill>
              </a:defRPr>
            </a:pPr>
            <a:r>
              <a:t>Surging 42% CAGR driven by strict algorithmic compliance requirements.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920240"/>
            <a:ext cx="24688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7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2800" b="1">
                <a:solidFill>
                  <a:srgbClr val="0D2E27"/>
                </a:solidFill>
              </a:defRPr>
            </a:pPr>
            <a:r>
              <a:t>6ms</a:t>
            </a:r>
          </a:p>
          <a:p>
            <a:pPr>
              <a:defRPr sz="1050" b="1">
                <a:solidFill>
                  <a:srgbClr val="D4AF37"/>
                </a:solidFill>
              </a:defRPr>
            </a:pPr>
            <a:r>
              <a:t>Required Audit Speed</a:t>
            </a:r>
          </a:p>
          <a:p>
            <a:pPr>
              <a:defRPr sz="900">
                <a:solidFill>
                  <a:srgbClr val="4A5568"/>
                </a:solidFill>
              </a:defRPr>
            </a:pPr>
            <a:r>
              <a:t>Regulators and auditors need instant mathematical verification without cloud dependencies.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10728655" cy="2468880"/>
          </a:xfrm>
          <a:prstGeom prst="roundRect">
            <a:avLst/>
          </a:prstGeom>
          <a:solidFill>
            <a:srgbClr val="0D2E2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/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t>THE ENTERPRISE PARADIGM SHIFT: MUTABLE LOGS VS MATHEMATICAL EVIDENCE</a:t>
            </a:r>
          </a:p>
          <a:p>
            <a:pPr>
              <a:defRPr sz="1050">
                <a:solidFill>
                  <a:srgbClr val="F7F5F0"/>
                </a:solidFill>
              </a:defRPr>
            </a:pPr>
            <a:r>
              <a:t>• Tamper Resistance: ✓ 100% Cryptographically Sealed. Tampering 1 byte triggers failure.</a:t>
            </a:r>
          </a:p>
          <a:p>
            <a:pPr>
              <a:defRPr sz="1050">
                <a:solidFill>
                  <a:srgbClr val="F7F5F0"/>
                </a:solidFill>
              </a:defRPr>
            </a:pPr>
            <a:r>
              <a:t>• PII Exposure: ✓ Zero Data Leak. Inputs salted &amp; multihashed; plain text purged.</a:t>
            </a:r>
          </a:p>
          <a:p>
            <a:pPr>
              <a:defRPr sz="1050">
                <a:solidFill>
                  <a:srgbClr val="F7F5F0"/>
                </a:solidFill>
              </a:defRPr>
            </a:pPr>
            <a:r>
              <a:t>• Signature Security: ✓ NIST FIPS 204 ML-DSA-65 post-quantum lattice signatures.</a:t>
            </a:r>
          </a:p>
          <a:p>
            <a:pPr>
              <a:defRPr sz="1050">
                <a:solidFill>
                  <a:srgbClr val="F7F5F0"/>
                </a:solidFill>
              </a:defRPr>
            </a:pPr>
            <a:r>
              <a:t>• Verification Trust: ✓ Zero-Trust. Verified offline in 6ms with pure mathematics.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292608"/>
          </a:xfrm>
          <a:prstGeom prst="roundRect">
            <a:avLst/>
          </a:prstGeom>
          <a:solidFill>
            <a:srgbClr val="0D2E2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D4AF37"/>
                </a:solidFill>
              </a:defRPr>
            </a:pPr>
            <a:r>
              <a:t>SLIDE 4 OF 5  •  THE SOLUTION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D2E27"/>
                </a:solidFill>
              </a:defRPr>
            </a:pPr>
            <a:r>
              <a:t>AegisAgent: Cryptographic Execution Flight Recorder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5568"/>
                </a:solidFill>
              </a:defRPr>
            </a:pPr>
            <a:r>
              <a:t>How Northwind Cipher CooL SDK (cool-nwc) converts ephemeral inferences into court-admissible receipts.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4688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7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150" b="1">
                <a:solidFill>
                  <a:srgbClr val="0D2E27"/>
                </a:solidFill>
              </a:defRPr>
            </a:pPr>
            <a:r>
              <a:t>1. Hardware Attestation</a:t>
            </a:r>
          </a:p>
          <a:p>
            <a:pPr>
              <a:defRPr sz="950" b="1">
                <a:solidFill>
                  <a:srgbClr val="1F4E43"/>
                </a:solidFill>
              </a:defRPr>
            </a:pPr>
            <a:r>
              <a:t>Intel TDX CVM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The underwriter agent runs inside a Confidential Virtual Machine. Hardware registers (MRTD &amp; RTMR0) lock memory against host tampering.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920240"/>
            <a:ext cx="24688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7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150" b="1">
                <a:solidFill>
                  <a:srgbClr val="0D2E27"/>
                </a:solidFill>
              </a:defRPr>
            </a:pPr>
            <a:r>
              <a:t>2. Salted Commitments</a:t>
            </a:r>
          </a:p>
          <a:p>
            <a:pPr>
              <a:defRPr sz="950" b="1">
                <a:solidFill>
                  <a:srgbClr val="0D2E27"/>
                </a:solidFill>
              </a:defRPr>
            </a:pPr>
            <a:r>
              <a:t>Zero-PII Privacy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Customer credit scores, tax IDs, and balances are salted with CSPRNG entropy. Plaintext is destroyed; multihashes are sealed.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24688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7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150" b="1">
                <a:solidFill>
                  <a:srgbClr val="0D2E27"/>
                </a:solidFill>
              </a:defRPr>
            </a:pPr>
            <a:r>
              <a:t>3. Dual Lattice Rail</a:t>
            </a:r>
          </a:p>
          <a:p>
            <a:pPr>
              <a:defRPr sz="950" b="1">
                <a:solidFill>
                  <a:srgbClr val="D4AF37"/>
                </a:solidFill>
              </a:defRPr>
            </a:pPr>
            <a:r>
              <a:t>NIST ML-DSA-65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Every inference is cryptographically signed with dual hybrid signatures: Ed25519 (classical) and ML-DSA-65 (post-quantum).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920240"/>
            <a:ext cx="24688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7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150" b="1">
                <a:solidFill>
                  <a:srgbClr val="0D2E27"/>
                </a:solidFill>
              </a:defRPr>
            </a:pPr>
            <a:r>
              <a:t>4. Offline Verification</a:t>
            </a:r>
          </a:p>
          <a:p>
            <a:pPr>
              <a:defRPr sz="950" b="1">
                <a:solidFill>
                  <a:srgbClr val="059669"/>
                </a:solidFill>
              </a:defRPr>
            </a:pPr>
            <a:r>
              <a:t>RFC 6962 Merkle Log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Sealed receipts are sequenced in an append-only cryptographic tree. Regulators verify compliance in 6ms with zero server trust.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10728655" cy="1920240"/>
          </a:xfrm>
          <a:prstGeom prst="roundRect">
            <a:avLst/>
          </a:prstGeom>
          <a:solidFill>
            <a:srgbClr val="071C1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82880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INTEGRATION SIMPLICITY: 1 LINE OF CODE TO RECORD EVIDENCE</a:t>
            </a:r>
          </a:p>
          <a:p>
            <a:pPr>
              <a:defRPr sz="950">
                <a:solidFill>
                  <a:srgbClr val="F7F5F0"/>
                </a:solidFill>
              </a:defRPr>
            </a:pPr>
            <a:r>
              <a:t>const cool = new CooL({ applicationId: 'aegis-lending-agent', attestation: { provider: 'phala' } });</a:t>
            </a:r>
          </a:p>
          <a:p>
            <a:pPr>
              <a:defRPr sz="950">
                <a:solidFill>
                  <a:srgbClr val="F5E6B3"/>
                </a:solidFill>
              </a:defRPr>
            </a:pPr>
            <a:r>
              <a:t>const { evidence, recordId } = await cool.record({ type: 'loan.decision', metadata, payloads });</a:t>
            </a:r>
          </a:p>
          <a:p>
            <a:pPr>
              <a:defRPr sz="900">
                <a:solidFill>
                  <a:srgbClr val="A0AEC0"/>
                </a:solidFill>
              </a:defRPr>
            </a:pPr>
            <a:r>
              <a:t>// In 6ms: canonical CBOR serialized -&gt; PII salted -&gt; dual signatures stamped -&gt; Merkle log sealed.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292608"/>
          </a:xfrm>
          <a:prstGeom prst="roundRect">
            <a:avLst/>
          </a:prstGeom>
          <a:solidFill>
            <a:srgbClr val="0D2E2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D4AF37"/>
                </a:solidFill>
              </a:defRPr>
            </a:pPr>
            <a:r>
              <a:t>SLIDE 5 OF 5  •  BUSINESS IMPACT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D2E27"/>
                </a:solidFill>
              </a:defRPr>
            </a:pPr>
            <a:r>
              <a:t>Commercial Viability, ROI &amp; Institutional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5568"/>
                </a:solidFill>
              </a:defRPr>
            </a:pPr>
            <a:r>
              <a:t>Turning AI governance from a legal roadblock into an enterprise competitive advantage.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3756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7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200" b="1">
                <a:solidFill>
                  <a:srgbClr val="0D2E27"/>
                </a:solidFill>
              </a:defRPr>
            </a:pPr>
            <a:r>
              <a:t>💰 74% Compliance Cost Reduction</a:t>
            </a:r>
          </a:p>
          <a:p>
            <a:pPr>
              <a:defRPr sz="1050" b="1">
                <a:solidFill>
                  <a:srgbClr val="0D2E27"/>
                </a:solidFill>
              </a:defRPr>
            </a:pPr>
            <a:r>
              <a:t>Dramatically cuts overhead for institutional audit readiness.</a:t>
            </a:r>
          </a:p>
          <a:p/>
          <a:p>
            <a:pPr>
              <a:defRPr sz="950">
                <a:solidFill>
                  <a:srgbClr val="4A5568"/>
                </a:solidFill>
              </a:defRPr>
            </a:pPr>
            <a:r>
              <a:t>✓ Generates machine-verifiable audit packs (cool.audit-pack.v2) on demand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✓ Replaces weeks of manual forensic analysis with 6ms mathematical checks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✓ Direct compliance with EU AI Act Art. 12, RBI Digital Lending, and SOC 2 Type II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920240"/>
            <a:ext cx="333756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7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200" b="1">
                <a:solidFill>
                  <a:srgbClr val="0D2E27"/>
                </a:solidFill>
              </a:defRPr>
            </a:pPr>
            <a:r>
              <a:t>🛡️ Zero-Fraud Non-Repudiation</a:t>
            </a:r>
          </a:p>
          <a:p>
            <a:pPr>
              <a:defRPr sz="1050" b="1">
                <a:solidFill>
                  <a:srgbClr val="1F4E43"/>
                </a:solidFill>
              </a:defRPr>
            </a:pPr>
            <a:r>
              <a:t>Protects institutions against class-action lawsuits and rogue claims.</a:t>
            </a:r>
          </a:p>
          <a:p/>
          <a:p>
            <a:pPr>
              <a:defRPr sz="950">
                <a:solidFill>
                  <a:srgbClr val="4A5568"/>
                </a:solidFill>
              </a:defRPr>
            </a:pPr>
            <a:r>
              <a:t>✓ Any retroactive alteration of decision rationale breaks the cryptographic multihash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✓ Auditors can independently prove whether a model complied with fair-lending policies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✓ Immune to quantum computing attacks with NIST FIPS 204 ML-DSA-65 keys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920240"/>
            <a:ext cx="333756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7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200" b="1">
                <a:solidFill>
                  <a:srgbClr val="0D2E27"/>
                </a:solidFill>
              </a:defRPr>
            </a:pPr>
            <a:r>
              <a:t>🔓 Subpoena Selective Disclosure</a:t>
            </a:r>
          </a:p>
          <a:p>
            <a:pPr>
              <a:defRPr sz="1050" b="1">
                <a:solidFill>
                  <a:srgbClr val="D4AF37"/>
                </a:solidFill>
              </a:defRPr>
            </a:pPr>
            <a:r>
              <a:t>Solves the privacy conflict in legal and regulatory proceedings.</a:t>
            </a:r>
          </a:p>
          <a:p/>
          <a:p>
            <a:pPr>
              <a:defRPr sz="950">
                <a:solidFill>
                  <a:srgbClr val="4A5568"/>
                </a:solidFill>
              </a:defRPr>
            </a:pPr>
            <a:r>
              <a:t>✓ Respond to court subpoenas by disclosing ONLY the decision and salt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✓ Applicant SSN, tax ID, and private financial ratios remain 100% confidential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✓ Strict adherence to DPDP Act 2025 purpose limitation and data minimization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60720"/>
            <a:ext cx="10728655" cy="640080"/>
          </a:xfrm>
          <a:prstGeom prst="roundRect">
            <a:avLst/>
          </a:prstGeom>
          <a:solidFill>
            <a:srgbClr val="0D2E2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PROTOTYPE STATUS: 100% OPERATIONAL  •  TESTED ON NORTHWIND CIPHER CooL SDK  •  VERIFIABLE IN 6MS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